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90980"/>
            <a:ext cx="10566400" cy="455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F2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90980"/>
            <a:ext cx="10566400" cy="455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51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E0B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UE24CS352A · MACHINE LEARNING MINI-PROJECT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28520"/>
            <a:ext cx="10883392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0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Generating Music with Machine Learning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100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22 · Group 22</a:t>
            </a:r>
            <a:endParaRPr lang="en-US" sz="18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-12500" r="-12500" t="0" b="0"/>
          <a:stretch/>
        </p:blipFill>
        <p:spPr>
          <a:xfrm>
            <a:off x="812800" y="4358640"/>
            <a:ext cx="1016000" cy="1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59740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Nagashree R Patil (PES1UG24CS289)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Nallamalli Kanaka Mani Sai Akhil (PES1UG24CS290)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414780"/>
            <a:ext cx="1088339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structure of piano music from MIDI files, predict what comes next, and generate new pieces.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5975" y="2322195"/>
            <a:ext cx="5187950" cy="265049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780" y="2540000"/>
            <a:ext cx="489491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hard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7600" y="2887980"/>
            <a:ext cx="480347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is sequential: what comes next depends on what came before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are played together (chords) and last for different lengths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music datasets are easy to overfit: the reference paper's simple network had 5% train error but 88% test error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8075" y="2322195"/>
            <a:ext cx="5187950" cy="265049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5880" y="2540000"/>
            <a:ext cx="489491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89700" y="2887980"/>
            <a:ext cx="480347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MIDI-to-sequence pipeline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Markov baseline, an LSTM and a GRU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them on pieces they have not seen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music and test it with listeners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520446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Kang, Kim and Ringdahl, Stanford (2018)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417955"/>
            <a:ext cx="2501900" cy="1253490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635761"/>
            <a:ext cx="212827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[N]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780" y="2222500"/>
            <a:ext cx="21282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pieces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02025" y="1417955"/>
            <a:ext cx="2501900" cy="1253490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9830" y="1635761"/>
            <a:ext cx="212827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[N]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19830" y="2222500"/>
            <a:ext cx="21282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events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8075" y="1417955"/>
            <a:ext cx="2501900" cy="1253490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880" y="1635761"/>
            <a:ext cx="212827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5D8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1,500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5880" y="2222500"/>
            <a:ext cx="21282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size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74125" y="1417955"/>
            <a:ext cx="2501900" cy="1253490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1930" y="1635761"/>
            <a:ext cx="212827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[x]%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91930" y="2222500"/>
            <a:ext cx="21282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events (test)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620" y="2903220"/>
            <a:ext cx="1079195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v3.0.0 (Google Magenta): piano performances recorded as MIDI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the Chopin pieces, like the paper's Chopin etudes: one composer and one instrument means a consistent style that is easier to learn from limited data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80 / 10 / 10 by piece (</a:t>
            </a:r>
            <a:r>
              <a:rPr lang="en-US" sz="1500" dirty="0">
                <a:solidFill>
                  <a:srgbClr val="B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 / b / c]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pieces), so no piece appears in two splits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built from training data only; rarer events become an unknown token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we represent music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33525"/>
            <a:ext cx="3160157" cy="101473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751330"/>
            <a:ext cx="280628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file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33780" y="2099311"/>
            <a:ext cx="28062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with start times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06307" y="184531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15882" y="1417955"/>
            <a:ext cx="3160236" cy="1245870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3687" y="1635761"/>
            <a:ext cx="28063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33687" y="1983741"/>
            <a:ext cx="28063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that start together + gap to the next onset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06293" y="184531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15868" y="1533525"/>
            <a:ext cx="3160157" cy="101473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3674" y="1751330"/>
            <a:ext cx="280628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33674" y="2099311"/>
            <a:ext cx="28062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of 64 events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0082" y="2895600"/>
            <a:ext cx="1077849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times are rounded to a 0.125 s grid; notes on the same step form one chord (the 4 highest pitches are kept)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the next onset is 1 to 16 steps (0.125 to 2 s)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(60, 64, 67), 4 means a C-E-G chord followed by 0.5 s until the next event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distinct (chord, gap) pair is one token; the 1,500 most frequent are kept, the rest become unknown and are ignored in the loss and in sampling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training window has 64 events and the target is the same window shifted by one event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417957"/>
            <a:ext cx="3397250" cy="2277110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Markov baseline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33780" y="1983739"/>
            <a:ext cx="3050489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which event follows each event in the training pieces and predicts the most frequent successor. It only remembers one step. Similar in spirit to the paper's Naive-Bayes-like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417957"/>
            <a:ext cx="3397250" cy="2277110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51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15180" y="1983739"/>
            <a:ext cx="3050489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(128) → 2 LSTM layers of 256 units → dropout 0.3 → softmax over the vocabulary. Its gates let it keep longer musical context. This was the best model in the paper.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417957"/>
            <a:ext cx="3397250" cy="2277110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65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96580" y="1983739"/>
            <a:ext cx="3050489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 with GRU cells. It merges the gates into reset and update gates, so it has fewer parameters and trains faster. The paper used GRUs in its encoder-decoder.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620" y="3926839"/>
            <a:ext cx="107919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cross-entropy (unknown tokens ignored), Adam with learning rate 2e-3, batch size 128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overfitting: dropout, gradient clipping at 1.0, early stopping on validation loss (patience 4)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Implementation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417957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Download and parse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33780" y="1983739"/>
            <a:ext cx="30504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MIDI read with pretty_midi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417957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51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Events and vocabulary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15180" y="1983739"/>
            <a:ext cx="30504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chords, gaps, 1,500 tokens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417957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6580" y="1635761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Windows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96580" y="1983739"/>
            <a:ext cx="30504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64-event inputs with shifted targets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2883536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780" y="3101339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33780" y="3449321"/>
            <a:ext cx="30504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and GRU in PyTorch on a Colab GPU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7375" y="2883536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5180" y="3101339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5180" y="3449321"/>
            <a:ext cx="30504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loss, perplexity, top-k on test pieces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78775" y="2883536"/>
            <a:ext cx="3397250" cy="1281430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6580" y="3101339"/>
            <a:ext cx="30504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Generate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96580" y="3449321"/>
            <a:ext cx="30504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new music and write .mid files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439673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in one Colab notebook. The GitHub repo holds the notebook, README, generated clips, results and write-up.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Evaluation and generation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417957"/>
            <a:ext cx="5187950" cy="2383790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780" y="1635761"/>
            <a:ext cx="489491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evaluate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7600" y="1983739"/>
            <a:ext cx="480347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loss on unseen test pieces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= exp(loss): lower is better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and top-5 next-event accuracy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survey: human or computer? (the paper's music Turing test)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88075" y="1417957"/>
            <a:ext cx="5187950" cy="2383790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635761"/>
            <a:ext cx="489491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generate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89700" y="1983739"/>
            <a:ext cx="480347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with the first 32 events of a test piece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300 events, one at a time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0.9 and top-15 sampling keep it varied but sensible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.mid: original, Markov, LSTM and GRU clips for the demo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Results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24942"/>
          <a:ext cx="10556240" cy="1640840"/>
        </p:xfrm>
        <a:graphic>
          <a:graphicData uri="http://schemas.openxmlformats.org/drawingml/2006/table">
            <a:tbl>
              <a:tblPr/>
              <a:tblGrid>
                <a:gridCol w="1759373"/>
                <a:gridCol w="1759373"/>
                <a:gridCol w="1759373"/>
                <a:gridCol w="1759373"/>
                <a:gridCol w="1759373"/>
                <a:gridCol w="1759373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loss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Perplexity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Judged human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Markov (bigram)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0082" y="3294382"/>
            <a:ext cx="1077849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curves (train vs validation) show how much each network overfits: </a:t>
            </a:r>
            <a:r>
              <a:rPr lang="en-US" sz="1400" dirty="0">
                <a:solidFill>
                  <a:srgbClr val="B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plot from loss_curves.png]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Survey: </a:t>
            </a:r>
            <a:r>
              <a:rPr lang="en-US" sz="1400" dirty="0">
                <a:solidFill>
                  <a:srgbClr val="B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listeners, 4 clips each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we play the original, Markov, LSTM and GRU clips from the same seed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414779"/>
            <a:ext cx="3403600" cy="2273300"/>
          </a:xfrm>
          <a:prstGeom prst="roundRect">
            <a:avLst>
              <a:gd name="adj" fmla="val 3352"/>
            </a:avLst>
          </a:prstGeom>
          <a:solidFill>
            <a:srgbClr val="2A3748"/>
          </a:solidFill>
          <a:ln/>
        </p:spPr>
      </p:sp>
      <p:sp>
        <p:nvSpPr>
          <p:cNvPr id="4" name="Text 2"/>
          <p:cNvSpPr/>
          <p:nvPr/>
        </p:nvSpPr>
        <p:spPr>
          <a:xfrm>
            <a:off x="1028700" y="1630679"/>
            <a:ext cx="306095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0B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5982" y="1978664"/>
            <a:ext cx="295605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best: perplexity 30.0, top-5 accuracy 59.5%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 close behind (33.1, 58.4%); both far above Markov (top-5 26.5%)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E0B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[Survey: % judged human]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4200" y="1414779"/>
            <a:ext cx="3403600" cy="2273300"/>
          </a:xfrm>
          <a:prstGeom prst="roundRect">
            <a:avLst>
              <a:gd name="adj" fmla="val 3352"/>
            </a:avLst>
          </a:prstGeom>
          <a:solidFill>
            <a:srgbClr val="2A3748"/>
          </a:solidFill>
          <a:ln/>
        </p:spPr>
      </p:sp>
      <p:sp>
        <p:nvSpPr>
          <p:cNvPr id="7" name="Text 5"/>
          <p:cNvSpPr/>
          <p:nvPr/>
        </p:nvSpPr>
        <p:spPr>
          <a:xfrm>
            <a:off x="4610100" y="1630679"/>
            <a:ext cx="306095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0B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7382" y="1978664"/>
            <a:ext cx="295605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capped at 1,500 events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 limited to 4 notes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note velocity, so little dynamics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listening survey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5600" y="1414779"/>
            <a:ext cx="3403600" cy="2273300"/>
          </a:xfrm>
          <a:prstGeom prst="roundRect">
            <a:avLst>
              <a:gd name="adj" fmla="val 3352"/>
            </a:avLst>
          </a:prstGeom>
          <a:solidFill>
            <a:srgbClr val="2A3748"/>
          </a:solidFill>
          <a:ln/>
        </p:spPr>
      </p:sp>
      <p:sp>
        <p:nvSpPr>
          <p:cNvPr id="10" name="Text 8"/>
          <p:cNvSpPr/>
          <p:nvPr/>
        </p:nvSpPr>
        <p:spPr>
          <a:xfrm>
            <a:off x="8191500" y="1630679"/>
            <a:ext cx="306095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0B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88782" y="1978664"/>
            <a:ext cx="29560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for longer memory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velocity and dynamics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pitch and duration 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9166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0B46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F2A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Team and references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24939"/>
          <a:ext cx="10556240" cy="115062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Nagashree R Patil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pipeline, Markov baseline, evaluation, write-up, README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Nallamalli Kanaka Mani Sai Akhil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 and GRU models, training, generation, listening survey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0082" y="2804164"/>
            <a:ext cx="1077849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Kang, Kim and Ringdahl. Project milestone: Generating music with machine learning. Stanford, 2018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Hawthorne et al. The MAESTRO dataset. ICLR 2019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private GitHub repository (see README)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rating Music with Machine Learning">
  <a:themeElements>
    <a:clrScheme name="Generating Music with Machine Learning">
      <a:dk1>
        <a:srgbClr val="222222"/>
      </a:dk1>
      <a:lt1>
        <a:srgbClr val="FAF8F3"/>
      </a:lt1>
      <a:dk2>
        <a:srgbClr val="585856"/>
      </a:dk2>
      <a:lt2>
        <a:srgbClr val="E4E3DE"/>
      </a:lt2>
      <a:accent1>
        <a:srgbClr val="2F5D8A"/>
      </a:accent1>
      <a:accent2>
        <a:srgbClr val="E0B46A"/>
      </a:accent2>
      <a:accent3>
        <a:srgbClr val="B4531F"/>
      </a:accent3>
      <a:accent4>
        <a:srgbClr val="5B6470"/>
      </a:accent4>
      <a:accent5>
        <a:srgbClr val="2A3748"/>
      </a:accent5>
      <a:accent6>
        <a:srgbClr val="C9CFD6"/>
      </a:accent6>
      <a:hlink>
        <a:srgbClr val="0563C1"/>
      </a:hlink>
      <a:folHlink>
        <a:srgbClr val="954F72"/>
      </a:folHlink>
    </a:clrScheme>
    <a:fontScheme name="Generating Music with Machine Learn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Music with Machine Learning</dc:title>
  <dc:subject/>
  <dc:creator/>
  <cp:lastModifiedBy/>
  <cp:revision>1</cp:revision>
  <dcterms:created xsi:type="dcterms:W3CDTF">2026-10-10T17:29:20Z</dcterms:created>
  <dcterms:modified xsi:type="dcterms:W3CDTF">2026-10-10T17:29:20Z</dcterms:modified>
</cp:coreProperties>
</file>