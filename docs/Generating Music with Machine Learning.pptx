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rial" charset="1" panose="020B0604020202020204"/>
      <p:regular r:id="rId19"/>
    </p:embeddedFont>
    <p:embeddedFont>
      <p:font typeface="Georgia" charset="1" panose="02040502050405020303"/>
      <p:regular r:id="rId20"/>
    </p:embeddedFont>
    <p:embeddedFont>
      <p:font typeface="Arial Bold" charset="1" panose="020B0704020202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notesMasters/notesMaster1.xml" Type="http://schemas.openxmlformats.org/officeDocument/2006/relationships/notesMaster"/><Relationship Id="rId17" Target="theme/theme2.xml" Type="http://schemas.openxmlformats.org/officeDocument/2006/relationships/theme"/><Relationship Id="rId18" Target="notesSlides/notesSlide1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notesSlides/notesSlide2.xml" Type="http://schemas.openxmlformats.org/officeDocument/2006/relationships/notesSlide"/><Relationship Id="rId22" Target="fonts/font22.fntdata" Type="http://schemas.openxmlformats.org/officeDocument/2006/relationships/font"/><Relationship Id="rId23" Target="notesSlides/notesSlide3.xml" Type="http://schemas.openxmlformats.org/officeDocument/2006/relationships/notesSlide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26" Target="notesSlides/notesSlide6.xml" Type="http://schemas.openxmlformats.org/officeDocument/2006/relationships/notesSlide"/><Relationship Id="rId27" Target="notesSlides/notesSlide7.xml" Type="http://schemas.openxmlformats.org/officeDocument/2006/relationships/notesSlide"/><Relationship Id="rId28" Target="notesSlides/notesSlide8.xml" Type="http://schemas.openxmlformats.org/officeDocument/2006/relationships/notesSlide"/><Relationship Id="rId29" Target="notesSlides/notesSlide9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10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19200" y="2428875"/>
            <a:ext cx="16325088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spc="150">
                <a:solidFill>
                  <a:srgbClr val="E0B46A"/>
                </a:solidFill>
                <a:latin typeface="Arial"/>
                <a:ea typeface="Arial"/>
                <a:cs typeface="Arial"/>
                <a:sym typeface="Arial"/>
              </a:rPr>
              <a:t>UE24CS352A · MACHINE LEARNING MINI-PROJECT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19200" y="3259455"/>
            <a:ext cx="16325088" cy="2150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80"/>
              </a:lnSpc>
            </a:pPr>
            <a:r>
              <a:rPr lang="en-US" sz="7800">
                <a:solidFill>
                  <a:srgbClr val="F3EFE6"/>
                </a:solidFill>
                <a:latin typeface="Georgia"/>
                <a:ea typeface="Georgia"/>
                <a:cs typeface="Georgia"/>
                <a:sym typeface="Georgia"/>
              </a:rPr>
              <a:t>Generating Music with Machine Learning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19200" y="5648325"/>
            <a:ext cx="16325088" cy="584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C9CFD6"/>
                </a:solidFill>
                <a:latin typeface="Arial"/>
                <a:ea typeface="Arial"/>
                <a:cs typeface="Arial"/>
                <a:sym typeface="Arial"/>
              </a:rPr>
              <a:t>Problem 22 · Group 22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219200" y="6537960"/>
            <a:ext cx="1524000" cy="15240"/>
            <a:chOff x="0" y="0"/>
            <a:chExt cx="2032000" cy="20320"/>
          </a:xfrm>
        </p:grpSpPr>
        <p:sp>
          <p:nvSpPr>
            <p:cNvPr name="Freeform 6" id="6" descr="line"/>
            <p:cNvSpPr/>
            <p:nvPr/>
          </p:nvSpPr>
          <p:spPr>
            <a:xfrm flipH="false" flipV="false" rot="0">
              <a:off x="0" y="0"/>
              <a:ext cx="2032000" cy="20320"/>
            </a:xfrm>
            <a:custGeom>
              <a:avLst/>
              <a:gdLst/>
              <a:ahLst/>
              <a:cxnLst/>
              <a:rect r="r" b="b" t="t" l="l"/>
              <a:pathLst>
                <a:path h="20320" w="2032000">
                  <a:moveTo>
                    <a:pt x="0" y="0"/>
                  </a:moveTo>
                  <a:lnTo>
                    <a:pt x="2032000" y="0"/>
                  </a:lnTo>
                  <a:lnTo>
                    <a:pt x="2032000" y="20320"/>
                  </a:lnTo>
                  <a:lnTo>
                    <a:pt x="0" y="20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10000" t="0" r="1000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219200" y="6810375"/>
            <a:ext cx="16325088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Nagashree R Patil (PES1UG24CS289)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Nallamalli Kanaka Mani Sai Akhil (PES1UG24CS290)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19200" y="1104900"/>
            <a:ext cx="1632508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0"/>
              </a:lnSpc>
            </a:pPr>
            <a:r>
              <a:rPr lang="en-US" sz="5100">
                <a:solidFill>
                  <a:srgbClr val="1F2A37"/>
                </a:solidFill>
                <a:latin typeface="Georgia"/>
                <a:ea typeface="Georgia"/>
                <a:cs typeface="Georgia"/>
                <a:sym typeface="Georgia"/>
              </a:rPr>
              <a:t>Problem statement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19200" y="2055495"/>
            <a:ext cx="16325088" cy="1118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Learn the structure of piano music from MIDI files, predict what comes next, and generate new pieces.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219200" y="3478530"/>
            <a:ext cx="7791450" cy="3985260"/>
            <a:chOff x="0" y="0"/>
            <a:chExt cx="10388600" cy="531368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388600" cy="5313680"/>
            </a:xfrm>
            <a:custGeom>
              <a:avLst/>
              <a:gdLst/>
              <a:ahLst/>
              <a:cxnLst/>
              <a:rect r="r" b="b" t="t" l="l"/>
              <a:pathLst>
                <a:path h="5313680" w="10388600">
                  <a:moveTo>
                    <a:pt x="0" y="146431"/>
                  </a:moveTo>
                  <a:cubicBezTo>
                    <a:pt x="0" y="65532"/>
                    <a:pt x="65532" y="0"/>
                    <a:pt x="146431" y="0"/>
                  </a:cubicBezTo>
                  <a:lnTo>
                    <a:pt x="10242169" y="0"/>
                  </a:lnTo>
                  <a:cubicBezTo>
                    <a:pt x="10323068" y="0"/>
                    <a:pt x="10388600" y="65532"/>
                    <a:pt x="10388600" y="146431"/>
                  </a:cubicBezTo>
                  <a:lnTo>
                    <a:pt x="10388600" y="5167249"/>
                  </a:lnTo>
                  <a:cubicBezTo>
                    <a:pt x="10388600" y="5248148"/>
                    <a:pt x="10323068" y="5313680"/>
                    <a:pt x="10242169" y="5313680"/>
                  </a:cubicBezTo>
                  <a:lnTo>
                    <a:pt x="146431" y="5313680"/>
                  </a:lnTo>
                  <a:cubicBezTo>
                    <a:pt x="65532" y="5313680"/>
                    <a:pt x="0" y="5248148"/>
                    <a:pt x="0" y="516724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1550670" y="3800475"/>
            <a:ext cx="734236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Why it is hard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76400" y="4274820"/>
            <a:ext cx="7205205" cy="2895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Music is sequential: what comes next depends on what came before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Notes are played together (chords) and last for different lengths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Small music datasets are easy to overfit: the reference paper's simple network had 5% train error but 88% test error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277350" y="3478530"/>
            <a:ext cx="7791450" cy="3985260"/>
            <a:chOff x="0" y="0"/>
            <a:chExt cx="10388600" cy="5313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388600" cy="5313680"/>
            </a:xfrm>
            <a:custGeom>
              <a:avLst/>
              <a:gdLst/>
              <a:ahLst/>
              <a:cxnLst/>
              <a:rect r="r" b="b" t="t" l="l"/>
              <a:pathLst>
                <a:path h="5313680" w="10388600">
                  <a:moveTo>
                    <a:pt x="0" y="146431"/>
                  </a:moveTo>
                  <a:cubicBezTo>
                    <a:pt x="0" y="65532"/>
                    <a:pt x="65532" y="0"/>
                    <a:pt x="146431" y="0"/>
                  </a:cubicBezTo>
                  <a:lnTo>
                    <a:pt x="10242169" y="0"/>
                  </a:lnTo>
                  <a:cubicBezTo>
                    <a:pt x="10323068" y="0"/>
                    <a:pt x="10388600" y="65532"/>
                    <a:pt x="10388600" y="146431"/>
                  </a:cubicBezTo>
                  <a:lnTo>
                    <a:pt x="10388600" y="5167249"/>
                  </a:lnTo>
                  <a:cubicBezTo>
                    <a:pt x="10388600" y="5248148"/>
                    <a:pt x="10323068" y="5313680"/>
                    <a:pt x="10242169" y="5313680"/>
                  </a:cubicBezTo>
                  <a:lnTo>
                    <a:pt x="146431" y="5313680"/>
                  </a:lnTo>
                  <a:cubicBezTo>
                    <a:pt x="65532" y="5313680"/>
                    <a:pt x="0" y="5248148"/>
                    <a:pt x="0" y="516724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9608820" y="3800475"/>
            <a:ext cx="734236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Our goals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734550" y="4274820"/>
            <a:ext cx="7205205" cy="1695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Build a MIDI-to-sequence pipeline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Train a Markov baseline, an LSTM and a GRU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Compare them on pieces they have not seen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Generate music and test it with listeners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19200" y="7749540"/>
            <a:ext cx="16325088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Reference: Kang, Kim and Ringdahl, Stanford (2018)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19200" y="1104900"/>
            <a:ext cx="1632508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0"/>
              </a:lnSpc>
            </a:pPr>
            <a:r>
              <a:rPr lang="en-US" sz="5100">
                <a:solidFill>
                  <a:srgbClr val="1F2A37"/>
                </a:solidFill>
                <a:latin typeface="Georgia"/>
                <a:ea typeface="Georgia"/>
                <a:cs typeface="Georgia"/>
                <a:sym typeface="Georgia"/>
              </a:rPr>
              <a:t>Dataset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122170"/>
            <a:ext cx="3762375" cy="1889760"/>
            <a:chOff x="0" y="0"/>
            <a:chExt cx="5016500" cy="25196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16500" cy="2519680"/>
            </a:xfrm>
            <a:custGeom>
              <a:avLst/>
              <a:gdLst/>
              <a:ahLst/>
              <a:cxnLst/>
              <a:rect r="r" b="b" t="t" l="l"/>
              <a:pathLst>
                <a:path h="2519680" w="5016500">
                  <a:moveTo>
                    <a:pt x="0" y="146812"/>
                  </a:moveTo>
                  <a:cubicBezTo>
                    <a:pt x="0" y="65786"/>
                    <a:pt x="65786" y="0"/>
                    <a:pt x="146812" y="0"/>
                  </a:cubicBezTo>
                  <a:lnTo>
                    <a:pt x="4869688" y="0"/>
                  </a:lnTo>
                  <a:cubicBezTo>
                    <a:pt x="4950714" y="0"/>
                    <a:pt x="5016500" y="65786"/>
                    <a:pt x="5016500" y="146812"/>
                  </a:cubicBezTo>
                  <a:lnTo>
                    <a:pt x="5016500" y="2372868"/>
                  </a:lnTo>
                  <a:cubicBezTo>
                    <a:pt x="5016500" y="2453894"/>
                    <a:pt x="4950714" y="2519680"/>
                    <a:pt x="4869688" y="2519680"/>
                  </a:cubicBezTo>
                  <a:lnTo>
                    <a:pt x="146812" y="2519680"/>
                  </a:lnTo>
                  <a:cubicBezTo>
                    <a:pt x="65786" y="2519680"/>
                    <a:pt x="0" y="2453894"/>
                    <a:pt x="0" y="237286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550670" y="2367915"/>
            <a:ext cx="319241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B4531F"/>
                </a:solidFill>
                <a:latin typeface="Georgia"/>
                <a:ea typeface="Georgia"/>
                <a:cs typeface="Georgia"/>
                <a:sym typeface="Georgia"/>
              </a:rPr>
              <a:t>[N]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50670" y="3276600"/>
            <a:ext cx="3192418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MIDI pieces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248275" y="2122170"/>
            <a:ext cx="3762375" cy="1889760"/>
            <a:chOff x="0" y="0"/>
            <a:chExt cx="5016500" cy="25196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16500" cy="2519680"/>
            </a:xfrm>
            <a:custGeom>
              <a:avLst/>
              <a:gdLst/>
              <a:ahLst/>
              <a:cxnLst/>
              <a:rect r="r" b="b" t="t" l="l"/>
              <a:pathLst>
                <a:path h="2519680" w="5016500">
                  <a:moveTo>
                    <a:pt x="0" y="146812"/>
                  </a:moveTo>
                  <a:cubicBezTo>
                    <a:pt x="0" y="65786"/>
                    <a:pt x="65786" y="0"/>
                    <a:pt x="146812" y="0"/>
                  </a:cubicBezTo>
                  <a:lnTo>
                    <a:pt x="4869688" y="0"/>
                  </a:lnTo>
                  <a:cubicBezTo>
                    <a:pt x="4950714" y="0"/>
                    <a:pt x="5016500" y="65786"/>
                    <a:pt x="5016500" y="146812"/>
                  </a:cubicBezTo>
                  <a:lnTo>
                    <a:pt x="5016500" y="2372868"/>
                  </a:lnTo>
                  <a:cubicBezTo>
                    <a:pt x="5016500" y="2453894"/>
                    <a:pt x="4950714" y="2519680"/>
                    <a:pt x="4869688" y="2519680"/>
                  </a:cubicBezTo>
                  <a:lnTo>
                    <a:pt x="146812" y="2519680"/>
                  </a:lnTo>
                  <a:cubicBezTo>
                    <a:pt x="65786" y="2519680"/>
                    <a:pt x="0" y="2453894"/>
                    <a:pt x="0" y="237286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5579745" y="2367915"/>
            <a:ext cx="319241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B4531F"/>
                </a:solidFill>
                <a:latin typeface="Georgia"/>
                <a:ea typeface="Georgia"/>
                <a:cs typeface="Georgia"/>
                <a:sym typeface="Georgia"/>
              </a:rPr>
              <a:t>[N]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579745" y="3276600"/>
            <a:ext cx="3192418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note events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277350" y="2122170"/>
            <a:ext cx="3762375" cy="1889760"/>
            <a:chOff x="0" y="0"/>
            <a:chExt cx="5016500" cy="25196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016500" cy="2519680"/>
            </a:xfrm>
            <a:custGeom>
              <a:avLst/>
              <a:gdLst/>
              <a:ahLst/>
              <a:cxnLst/>
              <a:rect r="r" b="b" t="t" l="l"/>
              <a:pathLst>
                <a:path h="2519680" w="5016500">
                  <a:moveTo>
                    <a:pt x="0" y="146812"/>
                  </a:moveTo>
                  <a:cubicBezTo>
                    <a:pt x="0" y="65786"/>
                    <a:pt x="65786" y="0"/>
                    <a:pt x="146812" y="0"/>
                  </a:cubicBezTo>
                  <a:lnTo>
                    <a:pt x="4869688" y="0"/>
                  </a:lnTo>
                  <a:cubicBezTo>
                    <a:pt x="4950714" y="0"/>
                    <a:pt x="5016500" y="65786"/>
                    <a:pt x="5016500" y="146812"/>
                  </a:cubicBezTo>
                  <a:lnTo>
                    <a:pt x="5016500" y="2372868"/>
                  </a:lnTo>
                  <a:cubicBezTo>
                    <a:pt x="5016500" y="2453894"/>
                    <a:pt x="4950714" y="2519680"/>
                    <a:pt x="4869688" y="2519680"/>
                  </a:cubicBezTo>
                  <a:lnTo>
                    <a:pt x="146812" y="2519680"/>
                  </a:lnTo>
                  <a:cubicBezTo>
                    <a:pt x="65786" y="2519680"/>
                    <a:pt x="0" y="2453894"/>
                    <a:pt x="0" y="237286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9608820" y="2367915"/>
            <a:ext cx="319241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2F5D8A"/>
                </a:solidFill>
                <a:latin typeface="Georgia"/>
                <a:ea typeface="Georgia"/>
                <a:cs typeface="Georgia"/>
                <a:sym typeface="Georgia"/>
              </a:rPr>
              <a:t>1,500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608820" y="3276600"/>
            <a:ext cx="3192418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vocabulary size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306425" y="2122170"/>
            <a:ext cx="3762375" cy="1889760"/>
            <a:chOff x="0" y="0"/>
            <a:chExt cx="5016500" cy="2519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016500" cy="2519680"/>
            </a:xfrm>
            <a:custGeom>
              <a:avLst/>
              <a:gdLst/>
              <a:ahLst/>
              <a:cxnLst/>
              <a:rect r="r" b="b" t="t" l="l"/>
              <a:pathLst>
                <a:path h="2519680" w="5016500">
                  <a:moveTo>
                    <a:pt x="0" y="146812"/>
                  </a:moveTo>
                  <a:cubicBezTo>
                    <a:pt x="0" y="65786"/>
                    <a:pt x="65786" y="0"/>
                    <a:pt x="146812" y="0"/>
                  </a:cubicBezTo>
                  <a:lnTo>
                    <a:pt x="4869688" y="0"/>
                  </a:lnTo>
                  <a:cubicBezTo>
                    <a:pt x="4950714" y="0"/>
                    <a:pt x="5016500" y="65786"/>
                    <a:pt x="5016500" y="146812"/>
                  </a:cubicBezTo>
                  <a:lnTo>
                    <a:pt x="5016500" y="2372868"/>
                  </a:lnTo>
                  <a:cubicBezTo>
                    <a:pt x="5016500" y="2453894"/>
                    <a:pt x="4950714" y="2519680"/>
                    <a:pt x="4869688" y="2519680"/>
                  </a:cubicBezTo>
                  <a:lnTo>
                    <a:pt x="146812" y="2519680"/>
                  </a:lnTo>
                  <a:cubicBezTo>
                    <a:pt x="65786" y="2519680"/>
                    <a:pt x="0" y="2453894"/>
                    <a:pt x="0" y="237286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3637895" y="2367915"/>
            <a:ext cx="319241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B4531F"/>
                </a:solidFill>
                <a:latin typeface="Georgia"/>
                <a:ea typeface="Georgia"/>
                <a:cs typeface="Georgia"/>
                <a:sym typeface="Georgia"/>
              </a:rPr>
              <a:t>[x]%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637895" y="3276600"/>
            <a:ext cx="3192418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unknown events (test)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44930" y="4297680"/>
            <a:ext cx="16187928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MAESTRO v3.0.0 (Google Magenta): piano performances recorded as MIDI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We use the Chopin pieces, like the paper's Chopin etudes: one composer and one instrument means a consistent style that is easier to learn from limited data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Split 80 / 10 / 10 by piece (</a:t>
            </a:r>
            <a:r>
              <a:rPr lang="en-US" sz="2250">
                <a:solidFill>
                  <a:srgbClr val="B4531F"/>
                </a:solidFill>
                <a:latin typeface="Arial"/>
                <a:ea typeface="Arial"/>
                <a:cs typeface="Arial"/>
                <a:sym typeface="Arial"/>
              </a:rPr>
              <a:t>[a / b / c]</a:t>
            </a: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 pieces), so no piece appears in two splits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Vocabulary built from training data only; rarer events become an unknown token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19200" y="1104900"/>
            <a:ext cx="1632508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0"/>
              </a:lnSpc>
            </a:pPr>
            <a:r>
              <a:rPr lang="en-US" sz="5100">
                <a:solidFill>
                  <a:srgbClr val="1F2A37"/>
                </a:solidFill>
                <a:latin typeface="Georgia"/>
                <a:ea typeface="Georgia"/>
                <a:cs typeface="Georgia"/>
                <a:sym typeface="Georgia"/>
              </a:rPr>
              <a:t>How we represent music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295525"/>
            <a:ext cx="4749765" cy="1531620"/>
            <a:chOff x="0" y="0"/>
            <a:chExt cx="6333020" cy="20421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32982" cy="2042160"/>
            </a:xfrm>
            <a:custGeom>
              <a:avLst/>
              <a:gdLst/>
              <a:ahLst/>
              <a:cxnLst/>
              <a:rect r="r" b="b" t="t" l="l"/>
              <a:pathLst>
                <a:path h="2042160" w="6332982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6186043" y="0"/>
                  </a:lnTo>
                  <a:cubicBezTo>
                    <a:pt x="6267196" y="0"/>
                    <a:pt x="6332982" y="65786"/>
                    <a:pt x="6332982" y="146939"/>
                  </a:cubicBezTo>
                  <a:lnTo>
                    <a:pt x="6332982" y="1895221"/>
                  </a:lnTo>
                  <a:cubicBezTo>
                    <a:pt x="6332982" y="1976374"/>
                    <a:pt x="6267196" y="2042160"/>
                    <a:pt x="6186043" y="2042160"/>
                  </a:cubicBezTo>
                  <a:lnTo>
                    <a:pt x="146939" y="2042160"/>
                  </a:lnTo>
                  <a:cubicBezTo>
                    <a:pt x="65786" y="2042160"/>
                    <a:pt x="0" y="1976374"/>
                    <a:pt x="0" y="1895221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550670" y="2617470"/>
            <a:ext cx="420942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MIDI file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50670" y="3091815"/>
            <a:ext cx="4209421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notes with start times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159465" y="2672715"/>
            <a:ext cx="502920" cy="720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B4531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769065" y="2122170"/>
            <a:ext cx="4749879" cy="1878330"/>
            <a:chOff x="0" y="0"/>
            <a:chExt cx="6333172" cy="25044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33236" cy="2504440"/>
            </a:xfrm>
            <a:custGeom>
              <a:avLst/>
              <a:gdLst/>
              <a:ahLst/>
              <a:cxnLst/>
              <a:rect r="r" b="b" t="t" l="l"/>
              <a:pathLst>
                <a:path h="2504440" w="6333236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6186424" y="0"/>
                  </a:lnTo>
                  <a:cubicBezTo>
                    <a:pt x="6267450" y="0"/>
                    <a:pt x="6333236" y="65659"/>
                    <a:pt x="6333236" y="146812"/>
                  </a:cubicBezTo>
                  <a:lnTo>
                    <a:pt x="6333236" y="2357628"/>
                  </a:lnTo>
                  <a:cubicBezTo>
                    <a:pt x="6333236" y="2438654"/>
                    <a:pt x="6267577" y="2504440"/>
                    <a:pt x="6186424" y="2504440"/>
                  </a:cubicBezTo>
                  <a:lnTo>
                    <a:pt x="146812" y="2504440"/>
                  </a:lnTo>
                  <a:cubicBezTo>
                    <a:pt x="65659" y="2504440"/>
                    <a:pt x="0" y="2438781"/>
                    <a:pt x="0" y="235762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7100535" y="2444115"/>
            <a:ext cx="420954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Event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100535" y="2918460"/>
            <a:ext cx="4209545" cy="78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notes that start together + gap to the next onset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709435" y="2672715"/>
            <a:ext cx="502920" cy="720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B4531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2319035" y="2295525"/>
            <a:ext cx="4749765" cy="1531620"/>
            <a:chOff x="0" y="0"/>
            <a:chExt cx="6333020" cy="20421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32982" cy="2042160"/>
            </a:xfrm>
            <a:custGeom>
              <a:avLst/>
              <a:gdLst/>
              <a:ahLst/>
              <a:cxnLst/>
              <a:rect r="r" b="b" t="t" l="l"/>
              <a:pathLst>
                <a:path h="2042160" w="6332982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6186043" y="0"/>
                  </a:lnTo>
                  <a:cubicBezTo>
                    <a:pt x="6267196" y="0"/>
                    <a:pt x="6332982" y="65786"/>
                    <a:pt x="6332982" y="146939"/>
                  </a:cubicBezTo>
                  <a:lnTo>
                    <a:pt x="6332982" y="1895221"/>
                  </a:lnTo>
                  <a:cubicBezTo>
                    <a:pt x="6332982" y="1976374"/>
                    <a:pt x="6267196" y="2042160"/>
                    <a:pt x="6186043" y="2042160"/>
                  </a:cubicBezTo>
                  <a:lnTo>
                    <a:pt x="146939" y="2042160"/>
                  </a:lnTo>
                  <a:cubicBezTo>
                    <a:pt x="65786" y="2042160"/>
                    <a:pt x="0" y="1976374"/>
                    <a:pt x="0" y="1895221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2650514" y="2617470"/>
            <a:ext cx="420942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Sequence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650514" y="3091815"/>
            <a:ext cx="4209421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windows of 64 events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65123" y="4295775"/>
            <a:ext cx="16167735" cy="2326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Start times are rounded to a 0.125 s grid; notes on the same step form one chord (the 4 highest pitches are kept)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Gap to the next onset is 1 to 16 steps (0.125 to 2 s)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Example: (60, 64, 67), 4 means a C-E-G chord followed by 0.5 s until the next event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Each distinct (chord, gap) pair is one token; the 1,500 most frequent are kept, the rest become unknown and are ignored in the loss and in sampling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Each training window has 64 events and the target is the same window shifted by one event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19200" y="1104900"/>
            <a:ext cx="1632508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0"/>
              </a:lnSpc>
            </a:pPr>
            <a:r>
              <a:rPr lang="en-US" sz="5100">
                <a:solidFill>
                  <a:srgbClr val="1F2A37"/>
                </a:solidFill>
                <a:latin typeface="Georgia"/>
                <a:ea typeface="Georgia"/>
                <a:cs typeface="Georgia"/>
                <a:sym typeface="Georgia"/>
              </a:rPr>
              <a:t>Models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122170"/>
            <a:ext cx="5105400" cy="3425190"/>
            <a:chOff x="0" y="0"/>
            <a:chExt cx="6807200" cy="45669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07200" cy="4566920"/>
            </a:xfrm>
            <a:custGeom>
              <a:avLst/>
              <a:gdLst/>
              <a:ahLst/>
              <a:cxnLst/>
              <a:rect r="r" b="b" t="t" l="l"/>
              <a:pathLst>
                <a:path h="4566920" w="6807200">
                  <a:moveTo>
                    <a:pt x="0" y="146431"/>
                  </a:moveTo>
                  <a:cubicBezTo>
                    <a:pt x="0" y="65532"/>
                    <a:pt x="65532" y="0"/>
                    <a:pt x="146431" y="0"/>
                  </a:cubicBezTo>
                  <a:lnTo>
                    <a:pt x="6660769" y="0"/>
                  </a:lnTo>
                  <a:cubicBezTo>
                    <a:pt x="6741668" y="0"/>
                    <a:pt x="6807200" y="65532"/>
                    <a:pt x="6807200" y="146431"/>
                  </a:cubicBezTo>
                  <a:lnTo>
                    <a:pt x="6807200" y="4420489"/>
                  </a:lnTo>
                  <a:cubicBezTo>
                    <a:pt x="6807200" y="4501388"/>
                    <a:pt x="6741668" y="4566920"/>
                    <a:pt x="6660769" y="4566920"/>
                  </a:cubicBezTo>
                  <a:lnTo>
                    <a:pt x="146431" y="4566920"/>
                  </a:lnTo>
                  <a:cubicBezTo>
                    <a:pt x="65532" y="4566920"/>
                    <a:pt x="0" y="4501388"/>
                    <a:pt x="0" y="442048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550670" y="2444115"/>
            <a:ext cx="457573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Markov baseline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50670" y="2927985"/>
            <a:ext cx="4575734" cy="2326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Counts which event follows each event in the training pieces and predicts the most frequent successor. It only remembers one step. Similar in spirit to the paper's Naive-Bayes-like model.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591300" y="2122170"/>
            <a:ext cx="5105400" cy="3425190"/>
            <a:chOff x="0" y="0"/>
            <a:chExt cx="6807200" cy="4566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807200" cy="4566920"/>
            </a:xfrm>
            <a:custGeom>
              <a:avLst/>
              <a:gdLst/>
              <a:ahLst/>
              <a:cxnLst/>
              <a:rect r="r" b="b" t="t" l="l"/>
              <a:pathLst>
                <a:path h="4566920" w="6807200">
                  <a:moveTo>
                    <a:pt x="0" y="146431"/>
                  </a:moveTo>
                  <a:cubicBezTo>
                    <a:pt x="0" y="65532"/>
                    <a:pt x="65532" y="0"/>
                    <a:pt x="146431" y="0"/>
                  </a:cubicBezTo>
                  <a:lnTo>
                    <a:pt x="6660769" y="0"/>
                  </a:lnTo>
                  <a:cubicBezTo>
                    <a:pt x="6741668" y="0"/>
                    <a:pt x="6807200" y="65532"/>
                    <a:pt x="6807200" y="146431"/>
                  </a:cubicBezTo>
                  <a:lnTo>
                    <a:pt x="6807200" y="4420489"/>
                  </a:lnTo>
                  <a:cubicBezTo>
                    <a:pt x="6807200" y="4501388"/>
                    <a:pt x="6741668" y="4566920"/>
                    <a:pt x="6660769" y="4566920"/>
                  </a:cubicBezTo>
                  <a:lnTo>
                    <a:pt x="146431" y="4566920"/>
                  </a:lnTo>
                  <a:cubicBezTo>
                    <a:pt x="65532" y="4566920"/>
                    <a:pt x="0" y="4501388"/>
                    <a:pt x="0" y="442048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6922770" y="2444115"/>
            <a:ext cx="457573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LSTM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922770" y="2927985"/>
            <a:ext cx="4575734" cy="2326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Embedding (128) → 2 LSTM layers of 256 units → dropout 0.3 → softmax over the vocabulary. Its gates let it keep longer musical context. This was the best model in the paper.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1963400" y="2122170"/>
            <a:ext cx="5105400" cy="3425190"/>
            <a:chOff x="0" y="0"/>
            <a:chExt cx="6807200" cy="45669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4566920"/>
            </a:xfrm>
            <a:custGeom>
              <a:avLst/>
              <a:gdLst/>
              <a:ahLst/>
              <a:cxnLst/>
              <a:rect r="r" b="b" t="t" l="l"/>
              <a:pathLst>
                <a:path h="4566920" w="6807200">
                  <a:moveTo>
                    <a:pt x="0" y="146431"/>
                  </a:moveTo>
                  <a:cubicBezTo>
                    <a:pt x="0" y="65532"/>
                    <a:pt x="65532" y="0"/>
                    <a:pt x="146431" y="0"/>
                  </a:cubicBezTo>
                  <a:lnTo>
                    <a:pt x="6660769" y="0"/>
                  </a:lnTo>
                  <a:cubicBezTo>
                    <a:pt x="6741668" y="0"/>
                    <a:pt x="6807200" y="65532"/>
                    <a:pt x="6807200" y="146431"/>
                  </a:cubicBezTo>
                  <a:lnTo>
                    <a:pt x="6807200" y="4420489"/>
                  </a:lnTo>
                  <a:cubicBezTo>
                    <a:pt x="6807200" y="4501388"/>
                    <a:pt x="6741668" y="4566920"/>
                    <a:pt x="6660769" y="4566920"/>
                  </a:cubicBezTo>
                  <a:lnTo>
                    <a:pt x="146431" y="4566920"/>
                  </a:lnTo>
                  <a:cubicBezTo>
                    <a:pt x="65532" y="4566920"/>
                    <a:pt x="0" y="4501388"/>
                    <a:pt x="0" y="442048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2294870" y="2444115"/>
            <a:ext cx="457573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GRU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294870" y="2927985"/>
            <a:ext cx="4575734" cy="2326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Same architecture with GRU cells. It merges the gates into reset and update gates, so it has fewer parameters and trains faster. The paper used GRUs in its encoder-decoder.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44930" y="5833110"/>
            <a:ext cx="16187928" cy="89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Training: cross-entropy (unknown tokens ignored), Adam with learning rate 2e-3, batch size 128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Against overfitting: dropout, gradient clipping at 1.0, early stopping on validation loss (patience 4)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19200" y="1104900"/>
            <a:ext cx="1632508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0"/>
              </a:lnSpc>
            </a:pPr>
            <a:r>
              <a:rPr lang="en-US" sz="5100">
                <a:solidFill>
                  <a:srgbClr val="1F2A37"/>
                </a:solidFill>
                <a:latin typeface="Georgia"/>
                <a:ea typeface="Georgia"/>
                <a:cs typeface="Georgia"/>
                <a:sym typeface="Georgia"/>
              </a:rPr>
              <a:t>Implementation pipeline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122170"/>
            <a:ext cx="5105400" cy="1931670"/>
            <a:chOff x="0" y="0"/>
            <a:chExt cx="6807200" cy="25755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07200" cy="2575560"/>
            </a:xfrm>
            <a:custGeom>
              <a:avLst/>
              <a:gdLst/>
              <a:ahLst/>
              <a:cxnLst/>
              <a:rect r="r" b="b" t="t" l="l"/>
              <a:pathLst>
                <a:path h="2575560" w="6807200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6660388" y="0"/>
                  </a:lnTo>
                  <a:cubicBezTo>
                    <a:pt x="6741541" y="0"/>
                    <a:pt x="6807200" y="65659"/>
                    <a:pt x="6807200" y="146812"/>
                  </a:cubicBezTo>
                  <a:lnTo>
                    <a:pt x="6807200" y="2428748"/>
                  </a:lnTo>
                  <a:cubicBezTo>
                    <a:pt x="6807200" y="2509774"/>
                    <a:pt x="6741541" y="2575560"/>
                    <a:pt x="6660388" y="2575560"/>
                  </a:cubicBezTo>
                  <a:lnTo>
                    <a:pt x="146812" y="2575560"/>
                  </a:lnTo>
                  <a:cubicBezTo>
                    <a:pt x="65659" y="2575560"/>
                    <a:pt x="0" y="2509901"/>
                    <a:pt x="0" y="242874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550670" y="2444115"/>
            <a:ext cx="457573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1. Download and parse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50670" y="2927985"/>
            <a:ext cx="4575734" cy="832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MAESTRO MIDI read with pretty_midi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591300" y="2122170"/>
            <a:ext cx="5105400" cy="1931670"/>
            <a:chOff x="0" y="0"/>
            <a:chExt cx="6807200" cy="25755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807200" cy="2575560"/>
            </a:xfrm>
            <a:custGeom>
              <a:avLst/>
              <a:gdLst/>
              <a:ahLst/>
              <a:cxnLst/>
              <a:rect r="r" b="b" t="t" l="l"/>
              <a:pathLst>
                <a:path h="2575560" w="6807200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6660388" y="0"/>
                  </a:lnTo>
                  <a:cubicBezTo>
                    <a:pt x="6741541" y="0"/>
                    <a:pt x="6807200" y="65659"/>
                    <a:pt x="6807200" y="146812"/>
                  </a:cubicBezTo>
                  <a:lnTo>
                    <a:pt x="6807200" y="2428748"/>
                  </a:lnTo>
                  <a:cubicBezTo>
                    <a:pt x="6807200" y="2509774"/>
                    <a:pt x="6741541" y="2575560"/>
                    <a:pt x="6660388" y="2575560"/>
                  </a:cubicBezTo>
                  <a:lnTo>
                    <a:pt x="146812" y="2575560"/>
                  </a:lnTo>
                  <a:cubicBezTo>
                    <a:pt x="65659" y="2575560"/>
                    <a:pt x="0" y="2509901"/>
                    <a:pt x="0" y="242874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6922770" y="2444115"/>
            <a:ext cx="457573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2. Events and vocabulary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922770" y="2927985"/>
            <a:ext cx="4575734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chords, gaps, 1,500 tokens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1963400" y="2122170"/>
            <a:ext cx="5105400" cy="1931670"/>
            <a:chOff x="0" y="0"/>
            <a:chExt cx="6807200" cy="25755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2575560"/>
            </a:xfrm>
            <a:custGeom>
              <a:avLst/>
              <a:gdLst/>
              <a:ahLst/>
              <a:cxnLst/>
              <a:rect r="r" b="b" t="t" l="l"/>
              <a:pathLst>
                <a:path h="2575560" w="6807200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6660388" y="0"/>
                  </a:lnTo>
                  <a:cubicBezTo>
                    <a:pt x="6741541" y="0"/>
                    <a:pt x="6807200" y="65659"/>
                    <a:pt x="6807200" y="146812"/>
                  </a:cubicBezTo>
                  <a:lnTo>
                    <a:pt x="6807200" y="2428748"/>
                  </a:lnTo>
                  <a:cubicBezTo>
                    <a:pt x="6807200" y="2509774"/>
                    <a:pt x="6741541" y="2575560"/>
                    <a:pt x="6660388" y="2575560"/>
                  </a:cubicBezTo>
                  <a:lnTo>
                    <a:pt x="146812" y="2575560"/>
                  </a:lnTo>
                  <a:cubicBezTo>
                    <a:pt x="65659" y="2575560"/>
                    <a:pt x="0" y="2509901"/>
                    <a:pt x="0" y="242874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2294870" y="2444115"/>
            <a:ext cx="457573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3. Windows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294870" y="2927985"/>
            <a:ext cx="4575734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64-event inputs with shifted targets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219200" y="4320540"/>
            <a:ext cx="5105400" cy="1931670"/>
            <a:chOff x="0" y="0"/>
            <a:chExt cx="6807200" cy="25755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807200" cy="2575560"/>
            </a:xfrm>
            <a:custGeom>
              <a:avLst/>
              <a:gdLst/>
              <a:ahLst/>
              <a:cxnLst/>
              <a:rect r="r" b="b" t="t" l="l"/>
              <a:pathLst>
                <a:path h="2575560" w="6807200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6660388" y="0"/>
                  </a:lnTo>
                  <a:cubicBezTo>
                    <a:pt x="6741541" y="0"/>
                    <a:pt x="6807200" y="65659"/>
                    <a:pt x="6807200" y="146812"/>
                  </a:cubicBezTo>
                  <a:lnTo>
                    <a:pt x="6807200" y="2428748"/>
                  </a:lnTo>
                  <a:cubicBezTo>
                    <a:pt x="6807200" y="2509774"/>
                    <a:pt x="6741541" y="2575560"/>
                    <a:pt x="6660388" y="2575560"/>
                  </a:cubicBezTo>
                  <a:lnTo>
                    <a:pt x="146812" y="2575560"/>
                  </a:lnTo>
                  <a:cubicBezTo>
                    <a:pt x="65659" y="2575560"/>
                    <a:pt x="0" y="2509901"/>
                    <a:pt x="0" y="242874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550670" y="4642485"/>
            <a:ext cx="457573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4. Train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550670" y="5126355"/>
            <a:ext cx="4575734" cy="832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LSTM and GRU in PyTorch on a Colab GPU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591300" y="4320540"/>
            <a:ext cx="5105400" cy="1931670"/>
            <a:chOff x="0" y="0"/>
            <a:chExt cx="6807200" cy="25755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2575560"/>
            </a:xfrm>
            <a:custGeom>
              <a:avLst/>
              <a:gdLst/>
              <a:ahLst/>
              <a:cxnLst/>
              <a:rect r="r" b="b" t="t" l="l"/>
              <a:pathLst>
                <a:path h="2575560" w="6807200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6660388" y="0"/>
                  </a:lnTo>
                  <a:cubicBezTo>
                    <a:pt x="6741541" y="0"/>
                    <a:pt x="6807200" y="65659"/>
                    <a:pt x="6807200" y="146812"/>
                  </a:cubicBezTo>
                  <a:lnTo>
                    <a:pt x="6807200" y="2428748"/>
                  </a:lnTo>
                  <a:cubicBezTo>
                    <a:pt x="6807200" y="2509774"/>
                    <a:pt x="6741541" y="2575560"/>
                    <a:pt x="6660388" y="2575560"/>
                  </a:cubicBezTo>
                  <a:lnTo>
                    <a:pt x="146812" y="2575560"/>
                  </a:lnTo>
                  <a:cubicBezTo>
                    <a:pt x="65659" y="2575560"/>
                    <a:pt x="0" y="2509901"/>
                    <a:pt x="0" y="242874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6922770" y="4642485"/>
            <a:ext cx="457573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5. Evaluate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922770" y="5126355"/>
            <a:ext cx="4575734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loss, perplexity, top-k on test pieces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963400" y="4320540"/>
            <a:ext cx="5105400" cy="1931670"/>
            <a:chOff x="0" y="0"/>
            <a:chExt cx="6807200" cy="257556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807200" cy="2575560"/>
            </a:xfrm>
            <a:custGeom>
              <a:avLst/>
              <a:gdLst/>
              <a:ahLst/>
              <a:cxnLst/>
              <a:rect r="r" b="b" t="t" l="l"/>
              <a:pathLst>
                <a:path h="2575560" w="6807200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6660388" y="0"/>
                  </a:lnTo>
                  <a:cubicBezTo>
                    <a:pt x="6741541" y="0"/>
                    <a:pt x="6807200" y="65659"/>
                    <a:pt x="6807200" y="146812"/>
                  </a:cubicBezTo>
                  <a:lnTo>
                    <a:pt x="6807200" y="2428748"/>
                  </a:lnTo>
                  <a:cubicBezTo>
                    <a:pt x="6807200" y="2509774"/>
                    <a:pt x="6741541" y="2575560"/>
                    <a:pt x="6660388" y="2575560"/>
                  </a:cubicBezTo>
                  <a:lnTo>
                    <a:pt x="146812" y="2575560"/>
                  </a:lnTo>
                  <a:cubicBezTo>
                    <a:pt x="65659" y="2575560"/>
                    <a:pt x="0" y="2509901"/>
                    <a:pt x="0" y="242874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25" id="25"/>
          <p:cNvSpPr txBox="true"/>
          <p:nvPr/>
        </p:nvSpPr>
        <p:spPr>
          <a:xfrm rot="0">
            <a:off x="12294870" y="4642485"/>
            <a:ext cx="457573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6. Generate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294870" y="5126355"/>
            <a:ext cx="4575734" cy="832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5B6470"/>
                </a:solidFill>
                <a:latin typeface="Arial"/>
                <a:ea typeface="Arial"/>
                <a:cs typeface="Arial"/>
                <a:sym typeface="Arial"/>
              </a:rPr>
              <a:t>sample new music and write .mid files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19200" y="6537960"/>
            <a:ext cx="16325088" cy="89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Everything runs in one Colab notebook. The GitHub repo holds the notebook, README, generated clips, results and write-up.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19200" y="1104900"/>
            <a:ext cx="1632508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0"/>
              </a:lnSpc>
            </a:pPr>
            <a:r>
              <a:rPr lang="en-US" sz="5100">
                <a:solidFill>
                  <a:srgbClr val="1F2A37"/>
                </a:solidFill>
                <a:latin typeface="Georgia"/>
                <a:ea typeface="Georgia"/>
                <a:cs typeface="Georgia"/>
                <a:sym typeface="Georgia"/>
              </a:rPr>
              <a:t>Evaluation and generation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122170"/>
            <a:ext cx="7791450" cy="3585210"/>
            <a:chOff x="0" y="0"/>
            <a:chExt cx="10388600" cy="47802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88600" cy="4780280"/>
            </a:xfrm>
            <a:custGeom>
              <a:avLst/>
              <a:gdLst/>
              <a:ahLst/>
              <a:cxnLst/>
              <a:rect r="r" b="b" t="t" l="l"/>
              <a:pathLst>
                <a:path h="4780280" w="10388600">
                  <a:moveTo>
                    <a:pt x="0" y="146431"/>
                  </a:moveTo>
                  <a:cubicBezTo>
                    <a:pt x="0" y="65532"/>
                    <a:pt x="65532" y="0"/>
                    <a:pt x="146431" y="0"/>
                  </a:cubicBezTo>
                  <a:lnTo>
                    <a:pt x="10242169" y="0"/>
                  </a:lnTo>
                  <a:cubicBezTo>
                    <a:pt x="10323068" y="0"/>
                    <a:pt x="10388600" y="65532"/>
                    <a:pt x="10388600" y="146431"/>
                  </a:cubicBezTo>
                  <a:lnTo>
                    <a:pt x="10388600" y="4633849"/>
                  </a:lnTo>
                  <a:cubicBezTo>
                    <a:pt x="10388600" y="4714748"/>
                    <a:pt x="10323068" y="4780280"/>
                    <a:pt x="10242169" y="4780280"/>
                  </a:cubicBezTo>
                  <a:lnTo>
                    <a:pt x="146431" y="4780280"/>
                  </a:lnTo>
                  <a:cubicBezTo>
                    <a:pt x="65532" y="4780280"/>
                    <a:pt x="0" y="4714748"/>
                    <a:pt x="0" y="463384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550670" y="2444115"/>
            <a:ext cx="734236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How we evaluate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76400" y="2918460"/>
            <a:ext cx="7205205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Cross-entropy loss on unseen test pieces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Perplexity = exp(loss): lower is better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Top-1 and top-5 next-event accuracy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Listening survey: human or computer? (the paper's music Turing test)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77350" y="2122170"/>
            <a:ext cx="7791450" cy="3585210"/>
            <a:chOff x="0" y="0"/>
            <a:chExt cx="10388600" cy="47802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88600" cy="4780280"/>
            </a:xfrm>
            <a:custGeom>
              <a:avLst/>
              <a:gdLst/>
              <a:ahLst/>
              <a:cxnLst/>
              <a:rect r="r" b="b" t="t" l="l"/>
              <a:pathLst>
                <a:path h="4780280" w="10388600">
                  <a:moveTo>
                    <a:pt x="0" y="146431"/>
                  </a:moveTo>
                  <a:cubicBezTo>
                    <a:pt x="0" y="65532"/>
                    <a:pt x="65532" y="0"/>
                    <a:pt x="146431" y="0"/>
                  </a:cubicBezTo>
                  <a:lnTo>
                    <a:pt x="10242169" y="0"/>
                  </a:lnTo>
                  <a:cubicBezTo>
                    <a:pt x="10323068" y="0"/>
                    <a:pt x="10388600" y="65532"/>
                    <a:pt x="10388600" y="146431"/>
                  </a:cubicBezTo>
                  <a:lnTo>
                    <a:pt x="10388600" y="4633849"/>
                  </a:lnTo>
                  <a:cubicBezTo>
                    <a:pt x="10388600" y="4714748"/>
                    <a:pt x="10323068" y="4780280"/>
                    <a:pt x="10242169" y="4780280"/>
                  </a:cubicBezTo>
                  <a:lnTo>
                    <a:pt x="146431" y="4780280"/>
                  </a:lnTo>
                  <a:cubicBezTo>
                    <a:pt x="65532" y="4780280"/>
                    <a:pt x="0" y="4714748"/>
                    <a:pt x="0" y="463384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DDD0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9608820" y="2444115"/>
            <a:ext cx="734236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2F5D8A"/>
                </a:solidFill>
                <a:latin typeface="Arial Bold"/>
                <a:ea typeface="Arial Bold"/>
                <a:cs typeface="Arial Bold"/>
                <a:sym typeface="Arial Bold"/>
              </a:rPr>
              <a:t>How we generate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734550" y="2918460"/>
            <a:ext cx="7205205" cy="2495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Seed with the first 32 events of a test piece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Sample 300 events, one at a time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Temperature 0.9 and top-15 sampling keep it varied but sensible</a:t>
            </a:r>
          </a:p>
          <a:p>
            <a:pPr algn="l" marL="407194" indent="-203597" lvl="1">
              <a:lnSpc>
                <a:spcPts val="3149"/>
              </a:lnSpc>
              <a:buFont typeface="Arial"/>
              <a:buChar char="•"/>
            </a:pPr>
            <a:r>
              <a:rPr lang="en-US" sz="225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Save as .mid: original, Markov, LSTM and GRU clips for the demo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1234440" y="2137413"/>
          <a:ext cx="13876075" cy="2489200"/>
        </p:xfrm>
        <a:graphic>
          <a:graphicData uri="http://schemas.openxmlformats.org/drawingml/2006/table">
            <a:tbl>
              <a:tblPr/>
              <a:tblGrid>
                <a:gridCol w="2312679"/>
                <a:gridCol w="2312679"/>
                <a:gridCol w="2312679"/>
                <a:gridCol w="2312679"/>
                <a:gridCol w="2312679"/>
                <a:gridCol w="2312679"/>
              </a:tblGrid>
              <a:tr h="6223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 b="true">
                          <a:solidFill>
                            <a:srgbClr val="222222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Model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 b="true">
                          <a:solidFill>
                            <a:srgbClr val="222222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Test loss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 b="true">
                          <a:solidFill>
                            <a:srgbClr val="222222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Perplexity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 b="true">
                          <a:solidFill>
                            <a:srgbClr val="222222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Top-1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 b="true">
                          <a:solidFill>
                            <a:srgbClr val="222222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Top-5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 b="true">
                          <a:solidFill>
                            <a:srgbClr val="222222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Judged human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6E1"/>
                    </a:solidFill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Markov (bigram)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4.0%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26.5%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[XX]%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LSTM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3.401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30.0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32.9%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59.5%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[XX]%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23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3.498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33.1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32.2%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58.4%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149"/>
                        </a:lnSpc>
                        <a:defRPr/>
                      </a:pPr>
                      <a:r>
                        <a:rPr lang="en-US" sz="225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[XX]%</a:t>
                      </a:r>
                      <a:endParaRPr lang="en-US" sz="1100"/>
                    </a:p>
                  </a:txBody>
                  <a:tcPr marL="66675" marR="66675" marT="66675" marB="66675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Freeform 3" id="3"/>
          <p:cNvSpPr/>
          <p:nvPr/>
        </p:nvSpPr>
        <p:spPr>
          <a:xfrm flipH="false" flipV="false" rot="0">
            <a:off x="3872936" y="6375143"/>
            <a:ext cx="10081636" cy="3520145"/>
          </a:xfrm>
          <a:custGeom>
            <a:avLst/>
            <a:gdLst/>
            <a:ahLst/>
            <a:cxnLst/>
            <a:rect r="r" b="b" t="t" l="l"/>
            <a:pathLst>
              <a:path h="3520145" w="10081636">
                <a:moveTo>
                  <a:pt x="0" y="0"/>
                </a:moveTo>
                <a:lnTo>
                  <a:pt x="10081636" y="0"/>
                </a:lnTo>
                <a:lnTo>
                  <a:pt x="10081636" y="3520145"/>
                </a:lnTo>
                <a:lnTo>
                  <a:pt x="0" y="3520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239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19200" y="1104900"/>
            <a:ext cx="1632508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0"/>
              </a:lnSpc>
            </a:pPr>
            <a:r>
              <a:rPr lang="en-US" sz="5100">
                <a:solidFill>
                  <a:srgbClr val="1F2A37"/>
                </a:solidFill>
                <a:latin typeface="Georgia"/>
                <a:ea typeface="Georgia"/>
                <a:cs typeface="Georgia"/>
                <a:sym typeface="Georgia"/>
              </a:rPr>
              <a:t>Results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65123" y="4893945"/>
            <a:ext cx="16179165" cy="1481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316" indent="-190158" lvl="1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Survey: [n] listeners, 4 clips each</a:t>
            </a:r>
          </a:p>
          <a:p>
            <a:pPr algn="l" marL="380316" indent="-190158" lvl="1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Live demo: we play the original, Markov, LSTM and GRU clips from the same seed</a:t>
            </a:r>
          </a:p>
          <a:p>
            <a:pPr algn="l" marL="380316" indent="-190158" lvl="1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Loss curves (train vs validation) show how much each network overfits:</a:t>
            </a:r>
          </a:p>
          <a:p>
            <a:pPr algn="l">
              <a:lnSpc>
                <a:spcPts val="2942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19200" y="1104900"/>
            <a:ext cx="1632508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0"/>
              </a:lnSpc>
            </a:pPr>
            <a:r>
              <a:rPr lang="en-US" sz="5100">
                <a:solidFill>
                  <a:srgbClr val="F3EFE6"/>
                </a:solidFill>
                <a:latin typeface="Georgia"/>
                <a:ea typeface="Georgia"/>
                <a:cs typeface="Georgia"/>
                <a:sym typeface="Georgia"/>
              </a:rPr>
              <a:t>Conclusions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122170"/>
            <a:ext cx="5105400" cy="3409950"/>
            <a:chOff x="0" y="0"/>
            <a:chExt cx="6807200" cy="45466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07200" cy="4546600"/>
            </a:xfrm>
            <a:custGeom>
              <a:avLst/>
              <a:gdLst/>
              <a:ahLst/>
              <a:cxnLst/>
              <a:rect r="r" b="b" t="t" l="l"/>
              <a:pathLst>
                <a:path h="4546600" w="68072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6654800" y="0"/>
                  </a:lnTo>
                  <a:cubicBezTo>
                    <a:pt x="6739001" y="0"/>
                    <a:pt x="6807200" y="68199"/>
                    <a:pt x="6807200" y="152400"/>
                  </a:cubicBezTo>
                  <a:lnTo>
                    <a:pt x="6807200" y="4394200"/>
                  </a:lnTo>
                  <a:cubicBezTo>
                    <a:pt x="6807200" y="4478401"/>
                    <a:pt x="6739001" y="4546600"/>
                    <a:pt x="6654800" y="4546600"/>
                  </a:cubicBezTo>
                  <a:lnTo>
                    <a:pt x="152400" y="4546600"/>
                  </a:lnTo>
                  <a:cubicBezTo>
                    <a:pt x="68199" y="4546600"/>
                    <a:pt x="0" y="4478401"/>
                    <a:pt x="0" y="4394200"/>
                  </a:cubicBezTo>
                  <a:close/>
                </a:path>
              </a:pathLst>
            </a:custGeom>
            <a:solidFill>
              <a:srgbClr val="2A374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43050" y="2436495"/>
            <a:ext cx="459143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E0B46A"/>
                </a:solidFill>
                <a:latin typeface="Arial Bold"/>
                <a:ea typeface="Arial Bold"/>
                <a:cs typeface="Arial Bold"/>
                <a:sym typeface="Arial Bold"/>
              </a:rPr>
              <a:t>What we found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88973" y="2920375"/>
            <a:ext cx="4434078" cy="2326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LSTM best: perplexity 30.0, top-5 accuracy 59.5%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GRU close behind (33.1, 58.4%); both far above Markov (top-5 26.5%)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E0B46A"/>
                </a:solidFill>
                <a:latin typeface="Arial"/>
                <a:ea typeface="Arial"/>
                <a:cs typeface="Arial"/>
                <a:sym typeface="Arial"/>
              </a:rPr>
              <a:t>[Survey: % judged human]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591300" y="2122170"/>
            <a:ext cx="5105400" cy="3409950"/>
            <a:chOff x="0" y="0"/>
            <a:chExt cx="6807200" cy="454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807200" cy="4546600"/>
            </a:xfrm>
            <a:custGeom>
              <a:avLst/>
              <a:gdLst/>
              <a:ahLst/>
              <a:cxnLst/>
              <a:rect r="r" b="b" t="t" l="l"/>
              <a:pathLst>
                <a:path h="4546600" w="68072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6654800" y="0"/>
                  </a:lnTo>
                  <a:cubicBezTo>
                    <a:pt x="6739001" y="0"/>
                    <a:pt x="6807200" y="68199"/>
                    <a:pt x="6807200" y="152400"/>
                  </a:cubicBezTo>
                  <a:lnTo>
                    <a:pt x="6807200" y="4394200"/>
                  </a:lnTo>
                  <a:cubicBezTo>
                    <a:pt x="6807200" y="4478401"/>
                    <a:pt x="6739001" y="4546600"/>
                    <a:pt x="6654800" y="4546600"/>
                  </a:cubicBezTo>
                  <a:lnTo>
                    <a:pt x="152400" y="4546600"/>
                  </a:lnTo>
                  <a:cubicBezTo>
                    <a:pt x="68199" y="4546600"/>
                    <a:pt x="0" y="4478401"/>
                    <a:pt x="0" y="4394200"/>
                  </a:cubicBezTo>
                  <a:close/>
                </a:path>
              </a:pathLst>
            </a:custGeom>
            <a:solidFill>
              <a:srgbClr val="2A3748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6915150" y="2436495"/>
            <a:ext cx="459143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E0B46A"/>
                </a:solidFill>
                <a:latin typeface="Arial Bold"/>
                <a:ea typeface="Arial Bold"/>
                <a:cs typeface="Arial Bold"/>
                <a:sym typeface="Arial Bold"/>
              </a:rPr>
              <a:t>Limitations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61073" y="2920375"/>
            <a:ext cx="44340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Vocabulary capped at 1,500 events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Chords limited to 4 notes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No note velocity, so little dynamics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Small listening survey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1963400" y="2122170"/>
            <a:ext cx="5105400" cy="3409950"/>
            <a:chOff x="0" y="0"/>
            <a:chExt cx="6807200" cy="4546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4546600"/>
            </a:xfrm>
            <a:custGeom>
              <a:avLst/>
              <a:gdLst/>
              <a:ahLst/>
              <a:cxnLst/>
              <a:rect r="r" b="b" t="t" l="l"/>
              <a:pathLst>
                <a:path h="4546600" w="68072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6654800" y="0"/>
                  </a:lnTo>
                  <a:cubicBezTo>
                    <a:pt x="6739001" y="0"/>
                    <a:pt x="6807200" y="68199"/>
                    <a:pt x="6807200" y="152400"/>
                  </a:cubicBezTo>
                  <a:lnTo>
                    <a:pt x="6807200" y="4394200"/>
                  </a:lnTo>
                  <a:cubicBezTo>
                    <a:pt x="6807200" y="4478401"/>
                    <a:pt x="6739001" y="4546600"/>
                    <a:pt x="6654800" y="4546600"/>
                  </a:cubicBezTo>
                  <a:lnTo>
                    <a:pt x="152400" y="4546600"/>
                  </a:lnTo>
                  <a:cubicBezTo>
                    <a:pt x="68199" y="4546600"/>
                    <a:pt x="0" y="4478401"/>
                    <a:pt x="0" y="4394200"/>
                  </a:cubicBezTo>
                  <a:close/>
                </a:path>
              </a:pathLst>
            </a:custGeom>
            <a:solidFill>
              <a:srgbClr val="2A3748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2287250" y="2436495"/>
            <a:ext cx="459143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E0B46A"/>
                </a:solidFill>
                <a:latin typeface="Arial Bold"/>
                <a:ea typeface="Arial Bold"/>
                <a:cs typeface="Arial Bold"/>
                <a:sym typeface="Arial Bold"/>
              </a:rPr>
              <a:t>Future work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33173" y="2920375"/>
            <a:ext cx="4434078" cy="1579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Transformer for longer memory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Add velocity and dynamics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3EFE6"/>
                </a:solidFill>
                <a:latin typeface="Arial"/>
                <a:ea typeface="Arial"/>
                <a:cs typeface="Arial"/>
                <a:sym typeface="Arial"/>
              </a:rPr>
              <a:t>Separate pitch and duration outputs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19200" y="5808345"/>
            <a:ext cx="16325088" cy="691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E0B46A"/>
                </a:solidFill>
                <a:latin typeface="Georgia"/>
                <a:ea typeface="Georgia"/>
                <a:cs typeface="Georgia"/>
                <a:sym typeface="Georgia"/>
              </a:rPr>
              <a:t>Thank you. Questions?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19200" y="1104900"/>
            <a:ext cx="1632508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0"/>
              </a:lnSpc>
            </a:pPr>
            <a:r>
              <a:rPr lang="en-US" sz="5100">
                <a:solidFill>
                  <a:srgbClr val="1F2A37"/>
                </a:solidFill>
                <a:latin typeface="Georgia"/>
                <a:ea typeface="Georgia"/>
                <a:cs typeface="Georgia"/>
                <a:sym typeface="Georgia"/>
              </a:rPr>
              <a:t>Team and references</a:t>
            </a:r>
          </a:p>
        </p:txBody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1234440" y="2137408"/>
          <a:ext cx="15811500" cy="1714500"/>
        </p:xfrm>
        <a:graphic>
          <a:graphicData uri="http://schemas.openxmlformats.org/drawingml/2006/table">
            <a:tbl>
              <a:tblPr/>
              <a:tblGrid>
                <a:gridCol w="7905750"/>
                <a:gridCol w="7905750"/>
              </a:tblGrid>
              <a:tr h="5715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222222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Member</a:t>
                      </a:r>
                      <a:endParaRPr lang="en-US" sz="1100"/>
                    </a:p>
                  </a:txBody>
                  <a:tcPr marL="62230" marR="62230" marT="62230" marB="62230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222222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Contribution</a:t>
                      </a:r>
                      <a:endParaRPr lang="en-US" sz="1100"/>
                    </a:p>
                  </a:txBody>
                  <a:tcPr marL="62230" marR="62230" marT="62230" marB="62230" anchor="t">
                    <a:lnL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6E1"/>
                    </a:solidFill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Nagashree R Patil</a:t>
                      </a:r>
                      <a:endParaRPr lang="en-US" sz="1100"/>
                    </a:p>
                  </a:txBody>
                  <a:tcPr marL="62230" marR="62230" marT="62230" marB="62230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 pipeline, Markov baseline, evaluation, write-up, README</a:t>
                      </a:r>
                      <a:endParaRPr lang="en-US" sz="1100"/>
                    </a:p>
                  </a:txBody>
                  <a:tcPr marL="62230" marR="62230" marT="62230" marB="62230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B9B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Nallamalli Kanaka Mani Sai Akhil</a:t>
                      </a:r>
                      <a:endParaRPr lang="en-US" sz="1100"/>
                    </a:p>
                  </a:txBody>
                  <a:tcPr marL="62230" marR="62230" marT="62230" marB="62230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LSTM and GRU models, training, generation, listening survey</a:t>
                      </a:r>
                      <a:endParaRPr lang="en-US" sz="1100"/>
                    </a:p>
                  </a:txBody>
                  <a:tcPr marL="62230" marR="62230" marT="62230" marB="62230" anchor="t">
                    <a:lnL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C7C6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365123" y="4158625"/>
            <a:ext cx="16167735" cy="1205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Kang, Kim and Ringdahl. Project milestone: Generating music with machine learning. Stanford, 2018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Hawthorne et al. The MAESTRO dataset. ICLR 2019</a:t>
            </a:r>
          </a:p>
          <a:p>
            <a:pPr algn="l" marL="380048" indent="-190024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222222"/>
                </a:solidFill>
                <a:latin typeface="Arial"/>
                <a:ea typeface="Arial"/>
                <a:cs typeface="Arial"/>
                <a:sym typeface="Arial"/>
              </a:rPr>
              <a:t>Code: private GitHub repository (see README)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DAHXww-FtS4</dc:identifier>
  <dcterms:modified xsi:type="dcterms:W3CDTF">2011-08-01T06:04:30Z</dcterms:modified>
  <cp:revision>1</cp:revision>
  <dc:title>Generating Music with Machine Learning.pptx</dc:title>
</cp:coreProperties>
</file>